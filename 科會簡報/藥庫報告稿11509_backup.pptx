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868" r:id="rId1"/>
  </p:sldMasterIdLst>
  <p:notesMasterIdLst>
    <p:notesMasterId r:id="rId5"/>
  </p:notesMasterIdLst>
  <p:sldIdLst>
    <p:sldId id="269" r:id="rId2"/>
    <p:sldId id="283" r:id="rId3"/>
    <p:sldId id="271" r:id="rId4"/>
  </p:sldIdLst>
  <p:sldSz cx="12192000" cy="6858000"/>
  <p:notesSz cx="6858000" cy="9144000"/>
  <p:embeddedFontLst>
    <p:embeddedFont>
      <p:font typeface="微軟正黑體" panose="020B0604030504040204" pitchFamily="34" charset="-120"/>
      <p:regular r:id="rId6"/>
      <p:bold r:id="rId7"/>
    </p:embeddedFont>
    <p:embeddedFont>
      <p:font typeface="標楷體" panose="03000509000000000000" pitchFamily="65" charset="-120"/>
      <p:regular r:id="rId8"/>
    </p:embeddedFont>
  </p:embeddedFontLst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A5EBC73-50FD-487B-A194-6E8FBC1ACFBF}">
  <a:tblStyle styleId="{8A5EBC73-50FD-487B-A194-6E8FBC1ACFB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660B408-B3CF-4A94-85FC-2B1E0A45F4A2}" styleName="深色樣式 2 - 輔色 1/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theme" Target="theme/theme1.xml"/><Relationship Id="rId5" Type="http://schemas.openxmlformats.org/officeDocument/2006/relationships/notesMaster" Target="notesMasters/notesMaster1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2902F-C983-40DE-9517-9DB0D69F375F}" type="datetimeFigureOut">
              <a:rPr lang="zh-TW" altLang="en-US" smtClean="0"/>
              <a:t>2026/10/18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48C63-06FA-498A-B9EE-2F6ECA1C014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2306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40957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37608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57936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70511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00987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32571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31715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69615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45762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1242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標題投影片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916955" y="2643182"/>
            <a:ext cx="8893821" cy="1752600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>
                    <a:tint val="75000"/>
                  </a:schemeClr>
                </a:solidFill>
                <a:ea typeface="微軟正黑體" pitchFamily="34" charset="-12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TW" altLang="en-US" dirty="0"/>
              <a:t>按一下以編輯母片副標題樣式</a:t>
            </a:r>
            <a:endParaRPr kumimoji="0" lang="en-US" dirty="0"/>
          </a:p>
        </p:txBody>
      </p:sp>
      <p:sp>
        <p:nvSpPr>
          <p:cNvPr id="7" name="標題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29895080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195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660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圖片 17" descr="署立嘉義醫院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820480" y="1347286"/>
            <a:ext cx="7182254" cy="5083047"/>
          </a:xfrm>
          <a:prstGeom prst="rect">
            <a:avLst/>
          </a:prstGeom>
          <a:effectLst>
            <a:softEdge rad="635000"/>
          </a:effectLst>
        </p:spPr>
      </p:pic>
      <p:sp>
        <p:nvSpPr>
          <p:cNvPr id="20" name="矩形 19"/>
          <p:cNvSpPr/>
          <p:nvPr/>
        </p:nvSpPr>
        <p:spPr>
          <a:xfrm>
            <a:off x="0" y="-64636"/>
            <a:ext cx="12192000" cy="1140822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微軟正黑體" pitchFamily="34" charset="-120"/>
            </a:endParaRPr>
          </a:p>
        </p:txBody>
      </p:sp>
      <p:pic>
        <p:nvPicPr>
          <p:cNvPr id="21" name="圖片 20" descr="MHW_logo.jpg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47528" y="217743"/>
            <a:ext cx="576064" cy="576064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2" name="副標題 2"/>
          <p:cNvSpPr txBox="1">
            <a:spLocks/>
          </p:cNvSpPr>
          <p:nvPr/>
        </p:nvSpPr>
        <p:spPr>
          <a:xfrm>
            <a:off x="2135560" y="206464"/>
            <a:ext cx="7488832" cy="5760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zh-TW" altLang="en-US" sz="44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衛 生 福 利 部 嘉 義 醫 院</a:t>
            </a:r>
          </a:p>
        </p:txBody>
      </p:sp>
      <p:sp>
        <p:nvSpPr>
          <p:cNvPr id="23" name="副標題 2"/>
          <p:cNvSpPr txBox="1">
            <a:spLocks/>
          </p:cNvSpPr>
          <p:nvPr/>
        </p:nvSpPr>
        <p:spPr>
          <a:xfrm>
            <a:off x="-1207231" y="5104859"/>
            <a:ext cx="7848600" cy="5760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b="1" kern="120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華康中圓體" pitchFamily="49" charset="-120"/>
                <a:ea typeface="華康中圓體" pitchFamily="49" charset="-120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zh-TW" altLang="en-US" sz="2400" b="0" dirty="0">
                <a:solidFill>
                  <a:schemeClr val="tx1"/>
                </a:solidFill>
                <a:effectLst/>
                <a:latin typeface="Times New Roman" pitchFamily="18" charset="0"/>
                <a:ea typeface="微軟正黑體" pitchFamily="34" charset="-120"/>
                <a:cs typeface="Times New Roman" pitchFamily="18" charset="0"/>
              </a:rPr>
              <a:t>報告日期：</a:t>
            </a:r>
            <a:r>
              <a:rPr lang="en-US" altLang="zh-TW" sz="2400" b="0" dirty="0">
                <a:solidFill>
                  <a:schemeClr val="tx1"/>
                </a:solidFill>
                <a:effectLst/>
                <a:latin typeface="Times New Roman" pitchFamily="18" charset="0"/>
                <a:ea typeface="微軟正黑體" pitchFamily="34" charset="-120"/>
                <a:cs typeface="Times New Roman" pitchFamily="18" charset="0"/>
              </a:rPr>
              <a:t>115</a:t>
            </a:r>
            <a:r>
              <a:rPr lang="zh-TW" altLang="en-US" sz="2400" b="0" dirty="0">
                <a:solidFill>
                  <a:schemeClr val="tx1"/>
                </a:solidFill>
                <a:effectLst/>
                <a:latin typeface="Times New Roman" pitchFamily="18" charset="0"/>
                <a:ea typeface="微軟正黑體" pitchFamily="34" charset="-120"/>
                <a:cs typeface="Times New Roman" pitchFamily="18" charset="0"/>
              </a:rPr>
              <a:t>年</a:t>
            </a:r>
            <a:r>
              <a:rPr lang="en-US" altLang="zh-TW" sz="2400" b="0" dirty="0">
                <a:solidFill>
                  <a:schemeClr val="tx1"/>
                </a:solidFill>
                <a:effectLst/>
                <a:latin typeface="Times New Roman" pitchFamily="18" charset="0"/>
                <a:ea typeface="微軟正黑體" pitchFamily="34" charset="-120"/>
                <a:cs typeface="Times New Roman" pitchFamily="18" charset="0"/>
              </a:rPr>
              <a:t>10</a:t>
            </a:r>
            <a:r>
              <a:rPr lang="zh-TW" altLang="en-US" sz="2400" b="0" dirty="0">
                <a:solidFill>
                  <a:schemeClr val="tx1"/>
                </a:solidFill>
                <a:effectLst/>
                <a:latin typeface="Times New Roman" pitchFamily="18" charset="0"/>
                <a:ea typeface="微軟正黑體" pitchFamily="34" charset="-120"/>
                <a:cs typeface="Times New Roman" pitchFamily="18" charset="0"/>
              </a:rPr>
              <a:t>月</a:t>
            </a:r>
            <a:r>
              <a:rPr lang="en-US" altLang="zh-TW" sz="2400" b="0" dirty="0">
                <a:solidFill>
                  <a:schemeClr val="tx1"/>
                </a:solidFill>
                <a:effectLst/>
                <a:latin typeface="Times New Roman" pitchFamily="18" charset="0"/>
                <a:ea typeface="微軟正黑體" pitchFamily="34" charset="-120"/>
                <a:cs typeface="Times New Roman" pitchFamily="18" charset="0"/>
              </a:rPr>
              <a:t>20</a:t>
            </a:r>
            <a:r>
              <a:rPr lang="zh-TW" altLang="en-US" sz="2400" b="0" dirty="0">
                <a:solidFill>
                  <a:schemeClr val="tx1"/>
                </a:solidFill>
                <a:effectLst/>
                <a:latin typeface="Times New Roman" pitchFamily="18" charset="0"/>
                <a:ea typeface="微軟正黑體" pitchFamily="34" charset="-120"/>
                <a:cs typeface="Times New Roman" pitchFamily="18" charset="0"/>
              </a:rPr>
              <a:t>日</a:t>
            </a:r>
            <a:endParaRPr lang="en-US" altLang="zh-TW" sz="2400" b="0" dirty="0">
              <a:solidFill>
                <a:schemeClr val="tx1"/>
              </a:solidFill>
              <a:effectLst/>
              <a:latin typeface="Times New Roman" pitchFamily="18" charset="0"/>
              <a:ea typeface="微軟正黑體" pitchFamily="34" charset="-120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endParaRPr lang="zh-TW" altLang="en-US" sz="2400" b="0" dirty="0">
              <a:solidFill>
                <a:schemeClr val="tx1"/>
              </a:solidFill>
              <a:effectLst/>
              <a:latin typeface="Times New Roman" pitchFamily="18" charset="0"/>
              <a:ea typeface="微軟正黑體" pitchFamily="34" charset="-120"/>
              <a:cs typeface="Times New Roman" pitchFamily="18" charset="0"/>
            </a:endParaRPr>
          </a:p>
        </p:txBody>
      </p:sp>
      <p:sp>
        <p:nvSpPr>
          <p:cNvPr id="24" name="副標題 2"/>
          <p:cNvSpPr txBox="1">
            <a:spLocks/>
          </p:cNvSpPr>
          <p:nvPr/>
        </p:nvSpPr>
        <p:spPr>
          <a:xfrm>
            <a:off x="613658" y="1273888"/>
            <a:ext cx="4463480" cy="13681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b="1" kern="120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華康中圓體" pitchFamily="49" charset="-120"/>
                <a:ea typeface="華康中圓體" pitchFamily="49" charset="-120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TW" altLang="en-US" sz="5400" b="0" dirty="0">
                <a:solidFill>
                  <a:schemeClr val="tx1"/>
                </a:solidFill>
                <a:latin typeface="Times New Roman" pitchFamily="18" charset="0"/>
                <a:ea typeface="微軟正黑體" pitchFamily="34" charset="-120"/>
                <a:cs typeface="Times New Roman" pitchFamily="18" charset="0"/>
              </a:rPr>
              <a:t>藥庫工作報告</a:t>
            </a:r>
            <a:endParaRPr lang="en-US" altLang="zh-TW" sz="5400" b="0" dirty="0">
              <a:solidFill>
                <a:schemeClr val="tx1"/>
              </a:solidFill>
              <a:latin typeface="Times New Roman" pitchFamily="18" charset="0"/>
              <a:ea typeface="微軟正黑體" pitchFamily="34" charset="-120"/>
              <a:cs typeface="Times New Roman" pitchFamily="18" charset="0"/>
            </a:endParaRPr>
          </a:p>
        </p:txBody>
      </p:sp>
      <p:sp>
        <p:nvSpPr>
          <p:cNvPr id="25" name="副標題 2"/>
          <p:cNvSpPr txBox="1">
            <a:spLocks/>
          </p:cNvSpPr>
          <p:nvPr/>
        </p:nvSpPr>
        <p:spPr>
          <a:xfrm>
            <a:off x="357000" y="3465607"/>
            <a:ext cx="4463480" cy="13681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b="1" kern="120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華康中圓體" pitchFamily="49" charset="-120"/>
                <a:ea typeface="華康中圓體" pitchFamily="49" charset="-120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altLang="zh-TW" sz="4800" b="0" dirty="0">
                <a:solidFill>
                  <a:schemeClr val="tx1"/>
                </a:solidFill>
                <a:latin typeface="Times New Roman" pitchFamily="18" charset="0"/>
                <a:ea typeface="微軟正黑體" pitchFamily="34" charset="-120"/>
                <a:cs typeface="Times New Roman" pitchFamily="18" charset="0"/>
              </a:rPr>
              <a:t>115</a:t>
            </a:r>
            <a:r>
              <a:rPr lang="zh-TW" altLang="en-US" sz="4800" b="0" dirty="0">
                <a:solidFill>
                  <a:schemeClr val="tx1"/>
                </a:solidFill>
                <a:latin typeface="Times New Roman" pitchFamily="18" charset="0"/>
                <a:ea typeface="微軟正黑體" pitchFamily="34" charset="-120"/>
                <a:cs typeface="Times New Roman" pitchFamily="18" charset="0"/>
              </a:rPr>
              <a:t>年</a:t>
            </a:r>
            <a:r>
              <a:rPr lang="en-US" altLang="zh-TW" sz="4800" b="0" dirty="0">
                <a:solidFill>
                  <a:schemeClr val="tx1"/>
                </a:solidFill>
                <a:latin typeface="Times New Roman" pitchFamily="18" charset="0"/>
                <a:ea typeface="微軟正黑體" pitchFamily="34" charset="-120"/>
                <a:cs typeface="Times New Roman" pitchFamily="18" charset="0"/>
              </a:rPr>
              <a:t>09</a:t>
            </a:r>
            <a:r>
              <a:rPr lang="zh-TW" altLang="en-US" sz="4800" b="0" dirty="0">
                <a:solidFill>
                  <a:schemeClr val="tx1"/>
                </a:solidFill>
                <a:latin typeface="Times New Roman" pitchFamily="18" charset="0"/>
                <a:ea typeface="微軟正黑體" pitchFamily="34" charset="-120"/>
                <a:cs typeface="Times New Roman" pitchFamily="18" charset="0"/>
              </a:rPr>
              <a:t>月份</a:t>
            </a:r>
            <a:endParaRPr lang="en-US" altLang="zh-TW" sz="4800" b="0" dirty="0">
              <a:solidFill>
                <a:schemeClr val="tx1"/>
              </a:solidFill>
              <a:latin typeface="Times New Roman" pitchFamily="18" charset="0"/>
              <a:ea typeface="微軟正黑體" pitchFamily="34" charset="-12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42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07774" y="248478"/>
            <a:ext cx="10542104" cy="6112565"/>
          </a:xfrm>
        </p:spPr>
        <p:txBody>
          <a:bodyPr>
            <a:normAutofit fontScale="92500" lnSpcReduction="20000"/>
          </a:bodyPr>
          <a:lstStyle/>
          <a:p>
            <a:r>
              <a:rPr lang="zh-TW" altLang="en-US" b="1" dirty="0"/>
              <a:t>智慧藥櫃</a:t>
            </a:r>
            <a:endParaRPr lang="en-US" altLang="zh-TW" b="1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dirty="0"/>
              <a:t>10</a:t>
            </a:r>
            <a:r>
              <a:rPr lang="zh-TW" altLang="en-US" dirty="0"/>
              <a:t>月</a:t>
            </a:r>
            <a:r>
              <a:rPr lang="en-US" altLang="zh-TW" dirty="0"/>
              <a:t>16</a:t>
            </a:r>
            <a:r>
              <a:rPr lang="zh-TW" altLang="en-US" dirty="0"/>
              <a:t>日驗收完成</a:t>
            </a:r>
            <a:endParaRPr lang="en-US" altLang="zh-TW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zh-TW" altLang="en-US" dirty="0"/>
              <a:t>申請小計畫</a:t>
            </a:r>
            <a:r>
              <a:rPr lang="en-US" altLang="zh-TW" dirty="0"/>
              <a:t>-</a:t>
            </a:r>
            <a:r>
              <a:rPr lang="zh-TW" altLang="en-US" dirty="0"/>
              <a:t>問卷調查</a:t>
            </a:r>
            <a:endParaRPr lang="en-US" altLang="zh-TW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zh-TW" altLang="en-US" dirty="0"/>
              <a:t>斷電</a:t>
            </a:r>
            <a:r>
              <a:rPr lang="en-US" altLang="zh-TW" dirty="0"/>
              <a:t>:</a:t>
            </a:r>
            <a:r>
              <a:rPr lang="zh-TW" altLang="en-US" dirty="0"/>
              <a:t>不可任意斷電，鑰匙封存於於交班登記本</a:t>
            </a:r>
            <a:endParaRPr lang="en-US" altLang="zh-TW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dirty="0"/>
              <a:t>1~3</a:t>
            </a:r>
            <a:r>
              <a:rPr lang="zh-TW" altLang="en-US" dirty="0"/>
              <a:t>級管制藥品</a:t>
            </a:r>
            <a:r>
              <a:rPr lang="en-US" altLang="zh-TW" dirty="0"/>
              <a:t>:</a:t>
            </a:r>
            <a:r>
              <a:rPr lang="zh-TW" altLang="en-US" dirty="0"/>
              <a:t>雙人盤點</a:t>
            </a:r>
            <a:r>
              <a:rPr lang="en-US" altLang="zh-TW" dirty="0"/>
              <a:t>(</a:t>
            </a:r>
            <a:r>
              <a:rPr lang="en-US" altLang="zh-TW" b="1" dirty="0"/>
              <a:t>2</a:t>
            </a:r>
            <a:r>
              <a:rPr lang="zh-TW" altLang="en-US" b="1" dirty="0"/>
              <a:t>班</a:t>
            </a:r>
            <a:r>
              <a:rPr lang="en-US" altLang="zh-TW" dirty="0"/>
              <a:t>/</a:t>
            </a:r>
            <a:r>
              <a:rPr lang="zh-TW" altLang="en-US" dirty="0"/>
              <a:t>交班時完成</a:t>
            </a:r>
            <a:r>
              <a:rPr lang="en-US" altLang="zh-TW" dirty="0"/>
              <a:t>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dirty="0"/>
              <a:t>4</a:t>
            </a:r>
            <a:r>
              <a:rPr lang="zh-TW" altLang="en-US" dirty="0"/>
              <a:t>級，公藥盤點</a:t>
            </a:r>
            <a:r>
              <a:rPr lang="en-US" altLang="zh-TW" dirty="0"/>
              <a:t>:</a:t>
            </a:r>
            <a:r>
              <a:rPr lang="zh-TW" altLang="en-US" dirty="0"/>
              <a:t>單人點</a:t>
            </a:r>
            <a:r>
              <a:rPr lang="en-US" altLang="zh-TW" dirty="0"/>
              <a:t>(</a:t>
            </a:r>
            <a:r>
              <a:rPr lang="en-US" altLang="zh-TW" b="1" dirty="0"/>
              <a:t>1</a:t>
            </a:r>
            <a:r>
              <a:rPr lang="zh-TW" altLang="en-US" b="1" dirty="0"/>
              <a:t>班</a:t>
            </a:r>
            <a:r>
              <a:rPr lang="en-US" altLang="zh-TW" dirty="0"/>
              <a:t>/00</a:t>
            </a:r>
            <a:r>
              <a:rPr lang="zh-TW" altLang="en-US" dirty="0"/>
              <a:t>點前完成</a:t>
            </a:r>
            <a:r>
              <a:rPr lang="en-US" altLang="zh-TW" dirty="0"/>
              <a:t>)</a:t>
            </a:r>
          </a:p>
          <a:p>
            <a:r>
              <a:rPr lang="zh-TW" altLang="en-US" b="1" dirty="0"/>
              <a:t>年休假規則宣導</a:t>
            </a:r>
            <a:endParaRPr lang="en-US" altLang="zh-TW" b="1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dirty="0"/>
              <a:t>9</a:t>
            </a:r>
            <a:r>
              <a:rPr lang="zh-TW" altLang="en-US" dirty="0"/>
              <a:t>月應達</a:t>
            </a:r>
            <a:r>
              <a:rPr lang="en-US" altLang="zh-TW" dirty="0"/>
              <a:t>75%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dirty="0"/>
              <a:t>11</a:t>
            </a:r>
            <a:r>
              <a:rPr lang="zh-TW" altLang="en-US" dirty="0"/>
              <a:t>月</a:t>
            </a:r>
            <a:r>
              <a:rPr lang="en-US" altLang="zh-TW" dirty="0"/>
              <a:t>90%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zh-TW" altLang="en-US" dirty="0"/>
              <a:t>預假須至請假系統完成請休</a:t>
            </a:r>
            <a:endParaRPr lang="en-US" altLang="zh-TW" dirty="0"/>
          </a:p>
          <a:p>
            <a:r>
              <a:rPr lang="en-US" altLang="zh-TW" b="1" dirty="0"/>
              <a:t>Tosho</a:t>
            </a:r>
            <a:r>
              <a:rPr lang="zh-TW" altLang="en-US" b="1" dirty="0"/>
              <a:t>包藥機藥品入藥盒之設置規則案</a:t>
            </a:r>
            <a:endParaRPr lang="en-US" altLang="zh-TW" b="1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zh-TW" altLang="en-US" dirty="0"/>
              <a:t>品項</a:t>
            </a:r>
            <a:r>
              <a:rPr lang="zh-TW" altLang="en-US" b="1" dirty="0"/>
              <a:t>入</a:t>
            </a:r>
            <a:r>
              <a:rPr lang="en-US" altLang="zh-TW" dirty="0"/>
              <a:t>Tosho</a:t>
            </a:r>
            <a:r>
              <a:rPr lang="zh-TW" altLang="en-US" dirty="0"/>
              <a:t>包藥機須提至主管會議討論後設置</a:t>
            </a:r>
            <a:endParaRPr lang="en-US" altLang="zh-TW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zh-TW" altLang="en-US" dirty="0"/>
              <a:t>管</a:t>
            </a:r>
            <a:r>
              <a:rPr lang="en-US" altLang="zh-TW" dirty="0"/>
              <a:t>4</a:t>
            </a:r>
            <a:r>
              <a:rPr lang="zh-TW" altLang="en-US" dirty="0"/>
              <a:t>移出，新增部分藥品移入</a:t>
            </a:r>
            <a:endParaRPr lang="en-US" altLang="zh-TW" dirty="0"/>
          </a:p>
          <a:p>
            <a:r>
              <a:rPr lang="zh-TW" altLang="en-US" b="1" dirty="0"/>
              <a:t>發藥窗口叫號燈新增</a:t>
            </a:r>
            <a:r>
              <a:rPr lang="en-US" altLang="zh-TW" b="1" dirty="0"/>
              <a:t>”</a:t>
            </a:r>
            <a:r>
              <a:rPr lang="zh-TW" altLang="en-US" b="1" dirty="0"/>
              <a:t>住</a:t>
            </a:r>
            <a:r>
              <a:rPr lang="en-US" altLang="zh-TW" b="1" dirty="0"/>
              <a:t>/</a:t>
            </a:r>
            <a:r>
              <a:rPr lang="zh-TW" altLang="en-US" b="1" dirty="0"/>
              <a:t>出院領藥</a:t>
            </a:r>
            <a:r>
              <a:rPr lang="en-US" altLang="zh-TW" b="1" dirty="0"/>
              <a:t>”</a:t>
            </a:r>
            <a:r>
              <a:rPr lang="zh-TW" altLang="en-US" b="1" dirty="0"/>
              <a:t>設置</a:t>
            </a:r>
            <a:endParaRPr lang="en-US" altLang="zh-TW" b="1" dirty="0"/>
          </a:p>
          <a:p>
            <a:r>
              <a:rPr lang="zh-TW" altLang="en-US" b="1" dirty="0"/>
              <a:t>疫苗施打季</a:t>
            </a:r>
            <a:endParaRPr lang="en-US" altLang="zh-TW" b="1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zh-TW" altLang="en-US" dirty="0"/>
              <a:t>門診</a:t>
            </a:r>
            <a:r>
              <a:rPr lang="en-US" altLang="zh-TW" dirty="0"/>
              <a:t>:</a:t>
            </a:r>
            <a:r>
              <a:rPr lang="zh-TW" altLang="en-US" dirty="0"/>
              <a:t>周六、國定假日至藥庫領取至窗口發放</a:t>
            </a:r>
            <a:endParaRPr lang="en-US" altLang="zh-TW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zh-TW" altLang="en-US" dirty="0"/>
              <a:t>社區</a:t>
            </a:r>
            <a:r>
              <a:rPr lang="en-US" altLang="zh-TW" dirty="0"/>
              <a:t>:</a:t>
            </a:r>
            <a:r>
              <a:rPr lang="zh-TW" altLang="en-US" dirty="0"/>
              <a:t>配合開庫發放</a:t>
            </a:r>
            <a:endParaRPr lang="en-US" altLang="zh-TW" dirty="0"/>
          </a:p>
          <a:p>
            <a:endParaRPr lang="en-US" altLang="zh-TW" b="1" dirty="0"/>
          </a:p>
          <a:p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1668750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9428044"/>
              </p:ext>
            </p:extLst>
          </p:nvPr>
        </p:nvGraphicFramePr>
        <p:xfrm>
          <a:off x="1739518" y="285532"/>
          <a:ext cx="8712964" cy="6253380"/>
        </p:xfrm>
        <a:graphic>
          <a:graphicData uri="http://schemas.openxmlformats.org/drawingml/2006/table">
            <a:tbl>
              <a:tblPr/>
              <a:tblGrid>
                <a:gridCol w="1134896">
                  <a:extLst>
                    <a:ext uri="{9D8B030D-6E8A-4147-A177-3AD203B41FA5}">
                      <a16:colId xmlns:a16="http://schemas.microsoft.com/office/drawing/2014/main" val="574427243"/>
                    </a:ext>
                  </a:extLst>
                </a:gridCol>
                <a:gridCol w="1236615">
                  <a:extLst>
                    <a:ext uri="{9D8B030D-6E8A-4147-A177-3AD203B41FA5}">
                      <a16:colId xmlns:a16="http://schemas.microsoft.com/office/drawing/2014/main" val="1476771691"/>
                    </a:ext>
                  </a:extLst>
                </a:gridCol>
                <a:gridCol w="761441">
                  <a:extLst>
                    <a:ext uri="{9D8B030D-6E8A-4147-A177-3AD203B41FA5}">
                      <a16:colId xmlns:a16="http://schemas.microsoft.com/office/drawing/2014/main" val="2441985477"/>
                    </a:ext>
                  </a:extLst>
                </a:gridCol>
                <a:gridCol w="465001">
                  <a:extLst>
                    <a:ext uri="{9D8B030D-6E8A-4147-A177-3AD203B41FA5}">
                      <a16:colId xmlns:a16="http://schemas.microsoft.com/office/drawing/2014/main" val="80995182"/>
                    </a:ext>
                  </a:extLst>
                </a:gridCol>
                <a:gridCol w="465001">
                  <a:extLst>
                    <a:ext uri="{9D8B030D-6E8A-4147-A177-3AD203B41FA5}">
                      <a16:colId xmlns:a16="http://schemas.microsoft.com/office/drawing/2014/main" val="1695507558"/>
                    </a:ext>
                  </a:extLst>
                </a:gridCol>
                <a:gridCol w="465001">
                  <a:extLst>
                    <a:ext uri="{9D8B030D-6E8A-4147-A177-3AD203B41FA5}">
                      <a16:colId xmlns:a16="http://schemas.microsoft.com/office/drawing/2014/main" val="886024392"/>
                    </a:ext>
                  </a:extLst>
                </a:gridCol>
                <a:gridCol w="465001">
                  <a:extLst>
                    <a:ext uri="{9D8B030D-6E8A-4147-A177-3AD203B41FA5}">
                      <a16:colId xmlns:a16="http://schemas.microsoft.com/office/drawing/2014/main" val="2746860990"/>
                    </a:ext>
                  </a:extLst>
                </a:gridCol>
                <a:gridCol w="465001">
                  <a:extLst>
                    <a:ext uri="{9D8B030D-6E8A-4147-A177-3AD203B41FA5}">
                      <a16:colId xmlns:a16="http://schemas.microsoft.com/office/drawing/2014/main" val="3604002222"/>
                    </a:ext>
                  </a:extLst>
                </a:gridCol>
                <a:gridCol w="465001">
                  <a:extLst>
                    <a:ext uri="{9D8B030D-6E8A-4147-A177-3AD203B41FA5}">
                      <a16:colId xmlns:a16="http://schemas.microsoft.com/office/drawing/2014/main" val="4214179522"/>
                    </a:ext>
                  </a:extLst>
                </a:gridCol>
                <a:gridCol w="465001">
                  <a:extLst>
                    <a:ext uri="{9D8B030D-6E8A-4147-A177-3AD203B41FA5}">
                      <a16:colId xmlns:a16="http://schemas.microsoft.com/office/drawing/2014/main" val="1457696976"/>
                    </a:ext>
                  </a:extLst>
                </a:gridCol>
                <a:gridCol w="465001">
                  <a:extLst>
                    <a:ext uri="{9D8B030D-6E8A-4147-A177-3AD203B41FA5}">
                      <a16:colId xmlns:a16="http://schemas.microsoft.com/office/drawing/2014/main" val="1167703742"/>
                    </a:ext>
                  </a:extLst>
                </a:gridCol>
                <a:gridCol w="465001">
                  <a:extLst>
                    <a:ext uri="{9D8B030D-6E8A-4147-A177-3AD203B41FA5}">
                      <a16:colId xmlns:a16="http://schemas.microsoft.com/office/drawing/2014/main" val="1641544440"/>
                    </a:ext>
                  </a:extLst>
                </a:gridCol>
                <a:gridCol w="465001">
                  <a:extLst>
                    <a:ext uri="{9D8B030D-6E8A-4147-A177-3AD203B41FA5}">
                      <a16:colId xmlns:a16="http://schemas.microsoft.com/office/drawing/2014/main" val="75572575"/>
                    </a:ext>
                  </a:extLst>
                </a:gridCol>
                <a:gridCol w="465001">
                  <a:extLst>
                    <a:ext uri="{9D8B030D-6E8A-4147-A177-3AD203B41FA5}">
                      <a16:colId xmlns:a16="http://schemas.microsoft.com/office/drawing/2014/main" val="317699157"/>
                    </a:ext>
                  </a:extLst>
                </a:gridCol>
                <a:gridCol w="465001">
                  <a:extLst>
                    <a:ext uri="{9D8B030D-6E8A-4147-A177-3AD203B41FA5}">
                      <a16:colId xmlns:a16="http://schemas.microsoft.com/office/drawing/2014/main" val="3862194037"/>
                    </a:ext>
                  </a:extLst>
                </a:gridCol>
              </a:tblGrid>
              <a:tr h="641457">
                <a:tc gridSpan="15"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115</a:t>
                      </a:r>
                      <a:r>
                        <a:rPr lang="zh-TW" alt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年藥庫指標報告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2460963"/>
                  </a:ext>
                </a:extLst>
              </a:tr>
              <a:tr h="641457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指標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定義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閾值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 </a:t>
                      </a:r>
                      <a:r>
                        <a:rPr lang="zh-TW" alt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月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 </a:t>
                      </a:r>
                      <a:r>
                        <a:rPr lang="zh-TW" alt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月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3</a:t>
                      </a:r>
                      <a:r>
                        <a:rPr lang="zh-TW" alt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月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4 </a:t>
                      </a:r>
                      <a:r>
                        <a:rPr lang="zh-TW" alt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月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5</a:t>
                      </a:r>
                      <a:r>
                        <a:rPr lang="zh-TW" alt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月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6</a:t>
                      </a:r>
                      <a:r>
                        <a:rPr lang="zh-TW" alt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月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7</a:t>
                      </a:r>
                      <a:r>
                        <a:rPr lang="zh-TW" alt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月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8</a:t>
                      </a:r>
                      <a:r>
                        <a:rPr lang="zh-TW" alt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月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9</a:t>
                      </a:r>
                      <a:r>
                        <a:rPr lang="zh-TW" alt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月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10</a:t>
                      </a:r>
                      <a:r>
                        <a:rPr lang="zh-TW" alt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月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11</a:t>
                      </a:r>
                      <a:r>
                        <a:rPr lang="zh-TW" alt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月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12</a:t>
                      </a:r>
                      <a:r>
                        <a:rPr lang="zh-TW" alt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月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02328927"/>
                  </a:ext>
                </a:extLst>
              </a:tr>
              <a:tr h="64145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庫存週轉率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年消耗金額</a:t>
                      </a:r>
                      <a:r>
                        <a:rPr lang="en-US" altLang="zh-TW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/</a:t>
                      </a:r>
                      <a:br>
                        <a:rPr lang="en-US" altLang="zh-TW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</a:br>
                      <a:r>
                        <a:rPr lang="zh-TW" alt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月藥品庫存金額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醫院</a:t>
                      </a:r>
                      <a:r>
                        <a:rPr lang="en-US" altLang="zh-TW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BSC</a:t>
                      </a:r>
                      <a:r>
                        <a:rPr lang="zh-TW" alt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≧</a:t>
                      </a:r>
                      <a:r>
                        <a:rPr lang="en-US" altLang="zh-TW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16</a:t>
                      </a:r>
                    </a:p>
                    <a:p>
                      <a:pPr algn="ctr" fontAlgn="ctr"/>
                      <a:r>
                        <a:rPr lang="zh-TW" alt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醫管會≧</a:t>
                      </a:r>
                      <a:r>
                        <a:rPr lang="en-US" altLang="zh-TW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14.5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12.6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14.14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13.72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13.9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17.6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17.07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16.75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400" b="0" i="0" u="none" strike="noStrike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400" b="0" i="0" u="none" strike="noStrike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400" b="0" i="0" u="none" strike="noStrike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96401861"/>
                  </a:ext>
                </a:extLst>
              </a:tr>
              <a:tr h="64145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平均值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14.94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70535049"/>
                  </a:ext>
                </a:extLst>
              </a:tr>
              <a:tr h="64145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月藥品庫存金額</a:t>
                      </a:r>
                      <a:r>
                        <a:rPr lang="en-US" altLang="zh-TW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/</a:t>
                      </a:r>
                      <a:br>
                        <a:rPr lang="en-US" altLang="zh-TW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</a:br>
                      <a:r>
                        <a:rPr lang="zh-TW" alt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月藥品消耗金額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每月計算</a:t>
                      </a:r>
                      <a:br>
                        <a:rPr lang="zh-TW" alt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</a:br>
                      <a:endParaRPr lang="zh-TW" alt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醫管會≦</a:t>
                      </a:r>
                      <a:r>
                        <a:rPr lang="en-US" altLang="zh-TW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0.79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0.97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0.79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0.85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0.89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0.82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0.74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0.71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600" b="0" i="0" u="none" strike="noStrike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600" b="0" i="0" u="none" strike="noStrike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600" b="0" i="0" u="none" strike="noStrike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538067"/>
                  </a:ext>
                </a:extLst>
              </a:tr>
              <a:tr h="64145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季平均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0.85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0.85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endParaRPr lang="en-US" altLang="zh-TW" sz="1600" b="0" i="0" u="none" strike="noStrike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0563024"/>
                  </a:ext>
                </a:extLst>
              </a:tr>
              <a:tr h="824080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住院退藥品質不良率</a:t>
                      </a:r>
                      <a:r>
                        <a:rPr lang="en-US" altLang="zh-TW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%</a:t>
                      </a:r>
                      <a:endParaRPr lang="zh-TW" alt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退藥品質不良筆數</a:t>
                      </a:r>
                      <a:r>
                        <a:rPr lang="en-US" altLang="zh-TW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/</a:t>
                      </a:r>
                      <a:r>
                        <a:rPr lang="zh-TW" alt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護理站退藥總筆數</a:t>
                      </a:r>
                      <a:endParaRPr lang="en-US" altLang="zh-TW" sz="1800" b="0" i="0" u="none" strike="noStrike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≦</a:t>
                      </a:r>
                      <a:r>
                        <a:rPr lang="en-US" altLang="zh-TW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1.06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0.65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0.31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0.36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600" b="0" i="0" u="none" strike="noStrike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600" b="0" i="0" u="none" strike="noStrike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600" b="0" i="0" u="none" strike="noStrike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1315594"/>
                  </a:ext>
                </a:extLst>
              </a:tr>
              <a:tr h="641457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住院</a:t>
                      </a:r>
                      <a:endParaRPr lang="en-US" altLang="zh-TW" sz="1800" b="0" i="0" u="none" strike="noStrike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algn="ctr" fontAlgn="ctr"/>
                      <a:r>
                        <a:rPr lang="zh-TW" alt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退藥率</a:t>
                      </a:r>
                      <a:r>
                        <a:rPr lang="en-US" altLang="zh-TW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%</a:t>
                      </a:r>
                      <a:endParaRPr lang="zh-TW" alt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住院退藥筆數</a:t>
                      </a:r>
                      <a:r>
                        <a:rPr lang="en-US" altLang="zh-TW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/</a:t>
                      </a:r>
                      <a:r>
                        <a:rPr lang="zh-TW" alt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開立醫囑領藥筆數</a:t>
                      </a:r>
                      <a:endParaRPr lang="en-US" altLang="zh-TW" sz="1800" b="0" i="0" u="none" strike="noStrike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≦</a:t>
                      </a:r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8.37%</a:t>
                      </a:r>
                    </a:p>
                    <a:p>
                      <a:pPr algn="ctr" fontAlgn="ctr"/>
                      <a:endParaRPr lang="en-US" altLang="zh-TW" sz="1800" b="0" i="0" u="none" strike="noStrike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4.76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3.52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3.56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4.21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3.89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4.27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4.01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3.54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3.43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600" b="0" i="0" u="none" strike="noStrike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600" b="0" i="0" u="none" strike="noStrike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600" b="0" i="0" u="none" strike="noStrike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45483979"/>
                  </a:ext>
                </a:extLst>
              </a:tr>
            </a:tbl>
          </a:graphicData>
        </a:graphic>
      </p:graphicFrame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107CD-F0BF-4835-98C9-9752BCCECF51}" type="slidenum">
              <a:rPr lang="zh-TW" altLang="en-US" smtClean="0"/>
              <a:pPr/>
              <a:t>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99124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2201</TotalTime>
  <Words>346</Words>
  <Application>Microsoft Office PowerPoint</Application>
  <PresentationFormat>寬螢幕</PresentationFormat>
  <Paragraphs>94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11" baseType="lpstr">
      <vt:lpstr>Calibri Light</vt:lpstr>
      <vt:lpstr>Wingdings</vt:lpstr>
      <vt:lpstr>Arial</vt:lpstr>
      <vt:lpstr>標楷體</vt:lpstr>
      <vt:lpstr>微軟正黑體</vt:lpstr>
      <vt:lpstr>Calibri</vt:lpstr>
      <vt:lpstr>Times New Roman</vt:lpstr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BFA09</dc:creator>
  <cp:lastModifiedBy>麗娟 葉</cp:lastModifiedBy>
  <cp:revision>96</cp:revision>
  <dcterms:modified xsi:type="dcterms:W3CDTF">2026-10-18T02:38:02Z</dcterms:modified>
</cp:coreProperties>
</file>